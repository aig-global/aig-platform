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640080"/>
            <a:ext cx="3017520" cy="301752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THE GLOBAL BUSINESS &amp; WEALTH ECOSYSTEM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Earn. Multiply. Dominate.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when you invest. Earn when others invest.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as your business grows. All fees back to the network.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</a:rPr>
              <a:t>aigplatform.com  ·  Global  ·  2025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4617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C0"/>
                </a:solidFill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THE CORE PRINCIPLE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earn. One ecosystem.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97480" cy="3383280"/>
          </a:xfrm>
          <a:prstGeom prst="roundRect">
            <a:avLst>
              <a:gd name="adj" fmla="val 474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727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02996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788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invest, you earn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3337560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money works 24/7 through AIG-curated investment opportunities and the GDM marketplace. AI guides every decision.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97480" cy="3383280"/>
          </a:xfrm>
          <a:prstGeom prst="roundRect">
            <a:avLst>
              <a:gd name="adj" fmla="val 4746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46120" y="15727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029968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788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invest, you earn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383280" y="3337560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you bring into the network invest, trade tokens or transact, commissions flow back to you automatically. 100% of fees returned.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417320"/>
            <a:ext cx="2697480" cy="3383280"/>
          </a:xfrm>
          <a:prstGeom prst="roundRect">
            <a:avLst>
              <a:gd name="adj" fmla="val 4746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126480" y="15727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029968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788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grows, you earn more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63640" y="3337560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your business scales using AIG tools and training your earning multiplies. Help others do the same — and earn again on their success.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0292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2344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74320" y="245059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guiding light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AIG ecosystem.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74320" y="3337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capital. Curated deals.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intelligence. Real returns.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425196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251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37"/>
                </a:solidFill>
              </a:rPr>
              <a:t>Investment is #1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58768" y="292608"/>
            <a:ext cx="4983480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14800" y="4023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deal flow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0" y="74980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Hand-picked investment opportunities — not random, not generic. Vetted through AIG's AI engine before they reach you.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858768" y="1463040"/>
            <a:ext cx="4983480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14800" y="15727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decisions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0" y="192024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modeling, risk analysis and pattern recognition across market history — before you commit a single dollar.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858768" y="2633472"/>
            <a:ext cx="4983480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114800" y="2743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investment models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14800" y="309067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AIG tokens to participate in structured investment opportunities. Your tokens are your stake in the ecosystem.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858768" y="3803904"/>
            <a:ext cx="4983480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114800" y="3913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multiplier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114800" y="426110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others in your network invest, commissions return to you automatically. The network earns together — every time.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858768" y="4828032"/>
            <a:ext cx="4983480" cy="256032"/>
          </a:xfrm>
          <a:prstGeom prst="roundRect">
            <a:avLst>
              <a:gd name="adj" fmla="val 2142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58768" y="482803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437"/>
                </a:solidFill>
              </a:rPr>
              <a:t>Investment is the guiding light — everything else in AIG is built to grow your wealth.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THE AIG ECOSYSTEM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pillars. One network.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" y="15361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3856" y="18928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deals, token models, AI-guided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" y="239572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Learn →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298448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572768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14216" y="15361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Transfers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014216" y="18928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transfers &amp; payments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447288" y="239572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47288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Learn →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126480" y="1298448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72768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94576" y="15361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Crypto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894576" y="18928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tokens, crypto services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327648" y="239572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27648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Learn →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65760" y="3127248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401568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33856" y="33649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Services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33856" y="37216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tools built for scale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66928" y="422452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66928" y="42245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Learn →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3246120" y="3127248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401568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014216" y="33649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GDM Marketplace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014216" y="37216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estate, cars, offshoring &amp; more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447288" y="422452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447288" y="42245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Learn →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6126480" y="3127248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401568"/>
            <a:ext cx="438912" cy="43891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94576" y="33649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894576" y="37216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earning, shared fee flow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327648" y="422452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327648" y="42245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Learn →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AI INVESTMENT ADVANTAGE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ways AI makes you a smarter investor.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63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at scale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30352" y="195681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thousands of sources in seconds. Earnings reports, market data, news — surfaces only what matters to your portfolio.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1298448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8132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463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Emotion-free analysis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410712" y="195681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panic selling, no greed at the top. AIG's AI analyzes without reacting — pure clarity every time.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26480" y="1298448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8132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1463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simulation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291072" y="195681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'what if' situations instantly. What happens if rates rise 2% or a sector drops 30%? Run the numbers fast.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65760" y="3054096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3697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2186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gaps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30352" y="371246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hidden correlations between holdings before they cost you — two 'different' assets moving together in a crisis.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46120" y="3054096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3697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32186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on your terms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3410712" y="371246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— P/E ratios, bond duration, options Greeks — at your own pace, at exactly your level.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26480" y="3054096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36976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12280" y="32186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291072" y="371246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historical patterns across market cycles and sectors that would take a human analyst weeks to compile.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TOKEN &amp; CRYPTO SERVICES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772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tokens work.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does your money.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21284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9568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marketplace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2322576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sell and exchange AIG tokens and partner crypto assets in a curated, network-native marketplace.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82880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212848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9568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investment models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77840" y="2322576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tokens to participate in structured investment opportunities. Your tokens are your stake in the ecosystem.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1480" y="333756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721608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4655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Token-powered purchases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88720" y="3831336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AIG tokens in the GDM marketplace — condos, cars, boats, bank accounts. No internet searching required.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00600" y="333756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721608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77840" y="34655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money transfers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577840" y="3831336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money anywhere in the world. Fast, low-cost, network-powered. All transfer fees return to the network.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0" y="0"/>
            <a:ext cx="58521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B143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" y="548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Phone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" y="438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apps.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406640" y="228600"/>
            <a:ext cx="1664208" cy="4663440"/>
          </a:xfrm>
          <a:prstGeom prst="roundRect">
            <a:avLst>
              <a:gd name="adj" fmla="val 5495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2743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apps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79792" y="6035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AIG Ask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79792" y="1005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AIG Translate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79792" y="14081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AIG News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79792" y="18105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AIG Weather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79792" y="22128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AIG HELO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79792" y="26151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AIG Record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79792" y="3017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AIG Sign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79792" y="34198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AIG Money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79792" y="382219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AIG Me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79792" y="4224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AIG Investor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356616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331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AI-managed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phone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31272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moving part of your day,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automatically.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3858768"/>
            <a:ext cx="3200400" cy="0"/>
          </a:xfrm>
          <a:prstGeom prst="line">
            <a:avLst/>
          </a:prstGeom>
          <a:noFill/>
          <a:ln w="25400">
            <a:solidFill>
              <a:srgbClr val="00C4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aigphone.com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15968" y="320040"/>
            <a:ext cx="2240280" cy="1389888"/>
          </a:xfrm>
          <a:prstGeom prst="roundRect">
            <a:avLst>
              <a:gd name="adj" fmla="val 6579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53128" y="429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Ask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453128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AI assistant — answer questions, research, decide faster.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93408" y="320040"/>
            <a:ext cx="2240280" cy="1389888"/>
          </a:xfrm>
          <a:prstGeom prst="roundRect">
            <a:avLst>
              <a:gd name="adj" fmla="val 6579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0568" y="429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Investor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30568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investment guidance, portfolio tracking and network earnings.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15968" y="1856232"/>
            <a:ext cx="2240280" cy="1389888"/>
          </a:xfrm>
          <a:prstGeom prst="roundRect">
            <a:avLst>
              <a:gd name="adj" fmla="val 6579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53128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Money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453128" y="23134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money transfers, token management and payments on one screen.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93408" y="1856232"/>
            <a:ext cx="2240280" cy="1389888"/>
          </a:xfrm>
          <a:prstGeom prst="roundRect">
            <a:avLst>
              <a:gd name="adj" fmla="val 6579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0568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Translate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830568" y="23134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language barriers instantly. Communicate globally, close deals locally.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15968" y="3392424"/>
            <a:ext cx="2240280" cy="1389888"/>
          </a:xfrm>
          <a:prstGeom prst="roundRect">
            <a:avLst>
              <a:gd name="adj" fmla="val 6579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53128" y="3502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HELO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453128" y="384962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and safety AI. Always connected, always watching out for you.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693408" y="3392424"/>
            <a:ext cx="2240280" cy="1389888"/>
          </a:xfrm>
          <a:prstGeom prst="roundRect">
            <a:avLst>
              <a:gd name="adj" fmla="val 6579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0568" y="3502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Sign &amp; Record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830568" y="384962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documents and record meetings with AI summaries — no paper, no delay.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45720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34930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Domination Market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274320" y="39136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store.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life-changing marketplace.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749040" y="2011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WDM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749040" y="102412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AIG tokens. Skip the searching. Everything is turnkey, vetted, and ready to change your life.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all brokerage fees returned to the AIG network.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49040" y="1847088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77056" y="193852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77056" y="226771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Condos, houses, commercial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27648" y="1847088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55664" y="193852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Cars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55664" y="226771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vehicles, turnkey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49040" y="2871216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77056" y="296265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Boats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77056" y="32918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Yachts &amp; leisure vessels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27648" y="2871216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5664" y="296265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Offshoring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55664" y="32918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setup &amp; relocation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749040" y="3895344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77056" y="398678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77056" y="43159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Multi-jurisdiction banking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327648" y="3895344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55664" y="398678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Nationalities &amp; Residency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55664" y="43159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Citizenship programs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749040" y="4828032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49040" y="4828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37"/>
                </a:solidFill>
              </a:rPr>
              <a:t>100% of all WDM service &amp; brokerage fees returned to the AIG network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AIG MONEYGAMES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real money.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zero of your own.</a:t>
            </a:r>
            <a:endParaRPr lang="en-US" sz="3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prize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91640" y="234086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€1,000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691640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from 10,000 coins wins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438144"/>
            <a:ext cx="530352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dash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02736"/>
            <a:ext cx="777240" cy="7772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6210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4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Yearly jackpot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417320" y="40050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annual performer claims the jackpot — no own money ever required.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3600" y="1691640"/>
            <a:ext cx="2880360" cy="3200400"/>
          </a:xfrm>
          <a:prstGeom prst="roundRect">
            <a:avLst>
              <a:gd name="adj" fmla="val 3810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35040" y="182880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053328" y="22677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Free to enter — no deposit needed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053328" y="27066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 player starts with 10,000 coins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053328" y="314553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Trade &amp; invest with virtual coins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053328" y="35844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Highest monthly profit wins €1,000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053328" y="4023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Yearly champion wins the jackpot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053328" y="44622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 make money work for you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make your luck change for the better.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SHARED INCOME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service. Every fee. Back to the network.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does not keep service fees. 100% of all fees from every platform service flow directly to network members.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2331720" cy="694944"/>
          </a:xfrm>
          <a:prstGeom prst="roundRect">
            <a:avLst>
              <a:gd name="adj" fmla="val 1052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0934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256" y="1645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Transfer Fees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07208" y="1481328"/>
            <a:ext cx="2331720" cy="694944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609344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92424" y="1645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Transaction Fees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2304288"/>
            <a:ext cx="2331720" cy="694944"/>
          </a:xfrm>
          <a:prstGeom prst="roundRect">
            <a:avLst>
              <a:gd name="adj" fmla="val 10526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32304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5256" y="2468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Service Fees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807208" y="2304288"/>
            <a:ext cx="2331720" cy="694944"/>
          </a:xfrm>
          <a:prstGeom prst="roundRect">
            <a:avLst>
              <a:gd name="adj" fmla="val 1052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648" y="2432304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92424" y="2468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Brokerage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20040" y="3127248"/>
            <a:ext cx="2331720" cy="694944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55264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05256" y="3291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Car &amp; Boat Sales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2807208" y="3127248"/>
            <a:ext cx="2331720" cy="694944"/>
          </a:xfrm>
          <a:prstGeom prst="roundRect">
            <a:avLst>
              <a:gd name="adj" fmla="val 10526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8648" y="3255264"/>
            <a:ext cx="402336" cy="40233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392424" y="3291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Offshoring Fees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320040" y="3950208"/>
            <a:ext cx="2331720" cy="694944"/>
          </a:xfrm>
          <a:prstGeom prst="roundRect">
            <a:avLst>
              <a:gd name="adj" fmla="val 1052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078224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5256" y="4114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Service Fees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2807208" y="3950208"/>
            <a:ext cx="2331720" cy="694944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8648" y="4078224"/>
            <a:ext cx="402336" cy="40233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392424" y="4114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Retreat Fees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5285232" y="2450592"/>
            <a:ext cx="5029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5870448" y="1463040"/>
            <a:ext cx="2944368" cy="3310128"/>
          </a:xfrm>
          <a:prstGeom prst="roundRect">
            <a:avLst>
              <a:gd name="adj" fmla="val 4348"/>
            </a:avLst>
          </a:prstGeom>
          <a:solidFill>
            <a:srgbClr val="0B1437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1645920"/>
            <a:ext cx="457200" cy="4572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961888" y="1645920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</a:t>
            </a:r>
            <a:endParaRPr lang="en-US" sz="2000" dirty="0"/>
          </a:p>
        </p:txBody>
      </p:sp>
      <p:sp>
        <p:nvSpPr>
          <p:cNvPr id="33" name="Text 22"/>
          <p:cNvSpPr/>
          <p:nvPr/>
        </p:nvSpPr>
        <p:spPr>
          <a:xfrm>
            <a:off x="5961888" y="2340864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all service fees</a:t>
            </a:r>
            <a:endParaRPr lang="en-US" sz="1100" dirty="0"/>
          </a:p>
        </p:txBody>
      </p:sp>
      <p:sp>
        <p:nvSpPr>
          <p:cNvPr id="34" name="Text 23"/>
          <p:cNvSpPr/>
          <p:nvPr/>
        </p:nvSpPr>
        <p:spPr>
          <a:xfrm>
            <a:off x="5961888" y="2651760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directly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network members</a:t>
            </a:r>
            <a:endParaRPr lang="en-US" sz="1200" dirty="0"/>
          </a:p>
        </p:txBody>
      </p:sp>
      <p:sp>
        <p:nvSpPr>
          <p:cNvPr id="35" name="Shape 24"/>
          <p:cNvSpPr/>
          <p:nvPr/>
        </p:nvSpPr>
        <p:spPr>
          <a:xfrm>
            <a:off x="6236208" y="3246120"/>
            <a:ext cx="2212848" cy="475488"/>
          </a:xfrm>
          <a:prstGeom prst="roundRect">
            <a:avLst>
              <a:gd name="adj" fmla="val 15385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6236208" y="324612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</a:rPr>
              <a:t>Your earnings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5961888" y="380390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package level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network activity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are separate from product prices — you pay fair market value, the entire service layer works for you.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MEMBERSHIP PACKAGES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starting point.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free and explore — or invest in a package to unlock earning potential, tools, and withdrawal rights.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29968" cy="3520440"/>
          </a:xfrm>
          <a:prstGeom prst="roundRect">
            <a:avLst>
              <a:gd name="adj" fmla="val 6306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029968" cy="713232"/>
          </a:xfrm>
          <a:prstGeom prst="roundRect">
            <a:avLst>
              <a:gd name="adj" fmla="val 17949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920240"/>
            <a:ext cx="2029968" cy="210312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4475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23113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 access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88950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Earn from all network activity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5478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Cannot withdraw until top-up met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42062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 earnings can fund top-up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41448" y="1417320"/>
            <a:ext cx="2029968" cy="3520440"/>
          </a:xfrm>
          <a:prstGeom prst="roundRect">
            <a:avLst>
              <a:gd name="adj" fmla="val 630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1417320"/>
            <a:ext cx="2029968" cy="713232"/>
          </a:xfrm>
          <a:prstGeom prst="roundRect">
            <a:avLst>
              <a:gd name="adj" fmla="val 17949"/>
            </a:avLst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41448" y="1920240"/>
            <a:ext cx="2029968" cy="210312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41448" y="144475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578608" y="185623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51176" y="223113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Free benefits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51176" y="288950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Min. account top-up required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51176" y="35478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Specific earning limit unlocked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51176" y="42062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Investment activates withdrawal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08576" y="1417320"/>
            <a:ext cx="2029968" cy="3520440"/>
          </a:xfrm>
          <a:prstGeom prst="roundRect">
            <a:avLst>
              <a:gd name="adj" fmla="val 6306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08576" y="1417320"/>
            <a:ext cx="2029968" cy="713232"/>
          </a:xfrm>
          <a:prstGeom prst="roundRect">
            <a:avLst>
              <a:gd name="adj" fmla="val 17949"/>
            </a:avLst>
          </a:prstGeom>
          <a:solidFill>
            <a:srgbClr val="3A5090"/>
          </a:solidFill>
          <a:ln w="12700">
            <a:solidFill>
              <a:srgbClr val="3A5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8576" y="1920240"/>
            <a:ext cx="2029968" cy="210312"/>
          </a:xfrm>
          <a:prstGeom prst="rect">
            <a:avLst/>
          </a:prstGeom>
          <a:solidFill>
            <a:srgbClr val="3A5090"/>
          </a:solidFill>
          <a:ln w="12700">
            <a:solidFill>
              <a:srgbClr val="3A5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144475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745736" y="185623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faster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18304" y="223113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Starter benefits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18304" y="288950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Higher earning limits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18304" y="35478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investment access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18304" y="42062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Enhanced network multipliers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75704" y="1417320"/>
            <a:ext cx="2029968" cy="3520440"/>
          </a:xfrm>
          <a:prstGeom prst="roundRect">
            <a:avLst>
              <a:gd name="adj" fmla="val 630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75704" y="1417320"/>
            <a:ext cx="2029968" cy="713232"/>
          </a:xfrm>
          <a:prstGeom prst="roundRect">
            <a:avLst>
              <a:gd name="adj" fmla="val 17949"/>
            </a:avLst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75704" y="1920240"/>
            <a:ext cx="2029968" cy="210312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75704" y="144475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912864" y="185623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power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85432" y="223113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Growth benefits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85432" y="288950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Maximum earning potential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85432" y="35478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WDM marketplace access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85432" y="42062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Global retreats included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572000"/>
            <a:ext cx="8595360" cy="438912"/>
          </a:xfrm>
          <a:prstGeom prst="roundRect">
            <a:avLst>
              <a:gd name="adj" fmla="val 16667"/>
            </a:avLst>
          </a:prstGeom>
          <a:solidFill>
            <a:srgbClr val="0B143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57200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with your package is not mandatory — but earnings cannot be withdrawn until your top-up minimum is met. Network earnings can fill your top-up.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HOW EARNINGS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rules. Powerful results.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40817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1344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network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19072" y="16459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or choose a package. Begin earning from network activity and platform service fees from day one.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048256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15798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19072" y="20939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from the network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719072" y="23957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investment, token trade, money transfer, GDM and WDM transaction generates fees — 100% flow back to you.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798064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907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19072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accumulate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719072" y="314553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free plan, earnings build but cannot be withdrawn. They can be used to fill your package top-up requirement.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54787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9436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65760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19072" y="35935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to unlock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719072" y="389534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minimum top-up via investment or accumulated earnings to unlock full withdrawal rights.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429768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9436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4407408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19072" y="4343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ceiling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719072" y="464515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active, grow your network, upgrade your package, and earn from every corner of the AIG ecosystem — without limit.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5102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hunger to grow is the only entry requirement.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THE NETWORK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grow. They grow. Everyone earns.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11880" y="123444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12801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49040" y="1627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 Earn. Invest.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2148840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1945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network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542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earn. You earn.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2999232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30449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network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33924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again.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3840480"/>
            <a:ext cx="6766560" cy="713232"/>
          </a:xfrm>
          <a:prstGeom prst="roundRect">
            <a:avLst>
              <a:gd name="adj" fmla="val 10256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8862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2336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Unstoppable momentum.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46520" y="1207008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0B143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344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rules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181051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Earn on every investment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Earn on every token trade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294436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Earn on every GDM purchase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351129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100% of all service fees back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407822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ceiling on network size or earnings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WHY AIG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can offer tools.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AIG gives you the whole world.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8D0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19072"/>
            <a:ext cx="4023360" cy="475488"/>
          </a:xfrm>
          <a:prstGeom prst="roundRect">
            <a:avLst>
              <a:gd name="adj" fmla="val 23077"/>
            </a:avLst>
          </a:prstGeom>
          <a:solidFill>
            <a:srgbClr val="D0D8EE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93392"/>
            <a:ext cx="4023360" cy="201168"/>
          </a:xfrm>
          <a:prstGeom prst="rect">
            <a:avLst/>
          </a:prstGeom>
          <a:solidFill>
            <a:srgbClr val="D0D8EE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1907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3408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Investment tools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7614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Keep all service fees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1821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network income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36027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token ecosystem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4023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lifestyle market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44439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Generic support only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719072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0B1437"/>
          </a:solidFill>
          <a:ln w="12700">
            <a:solidFill>
              <a:srgbClr val="C8D0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719072"/>
            <a:ext cx="4023360" cy="475488"/>
          </a:xfrm>
          <a:prstGeom prst="roundRect">
            <a:avLst>
              <a:gd name="adj" fmla="val 2307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993392"/>
            <a:ext cx="402336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71907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38928" y="23408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Investment + business + lifestyle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8928" y="27614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fees back to network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38928" y="31821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Earn on entire network activity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38928" y="36027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token &amp; crypto marketplace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38928" y="4023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WDM: real estate to nationalities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38928" y="44439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Phone, training &amp; MoneyGames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2011680"/>
            <a:ext cx="5029200" cy="5029200"/>
          </a:xfrm>
          <a:prstGeom prst="ellipse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474720" cy="347472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YOUR NEXT MOVE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is growing.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you in?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Invest. Earn. Multiply. Repeat.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you need is the hunger.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free — earn from the network from day one.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when ready to unlock full investment and withdrawal power.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MoneyGames. Win real money. Risk nothing.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279392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939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</a:rPr>
              <a:t>Join Free 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4279392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0B143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42793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Play MoneyGames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</a:rPr>
              <a:t>aigplatform.com  ·  info@aig.com  ·  +1 800 AIG-HELP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 – The Global Business &amp; Wealth Ecosystem</dc:title>
  <dc:subject>PptxGenJS Presentation</dc:subject>
  <dc:creator>PptxGenJS</dc:creator>
  <cp:lastModifiedBy>PptxGenJS</cp:lastModifiedBy>
  <cp:revision>1</cp:revision>
  <dcterms:created xsi:type="dcterms:W3CDTF">2026-07-02T22:06:14Z</dcterms:created>
  <dcterms:modified xsi:type="dcterms:W3CDTF">2026-07-02T22:06:14Z</dcterms:modified>
</cp:coreProperties>
</file>