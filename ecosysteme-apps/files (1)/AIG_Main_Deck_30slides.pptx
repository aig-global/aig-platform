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685800"/>
            <a:ext cx="2560320" cy="329184"/>
          </a:xfrm>
          <a:prstGeom prst="roundRect">
            <a:avLst>
              <a:gd name="adj" fmla="val 13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858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437"/>
                </a:solidFill>
              </a:rPr>
              <a:t>THE AI BUSINESS ECOSYSTEM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78992"/>
            <a:ext cx="7315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548640" y="2578608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 Unlimited Possibilities.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  ·  Business Tools  ·  Global Marketplace  ·  Community  ·  Education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</a:rPr>
              <a:t>aigplatform.com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46177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AC0"/>
                </a:solidFill>
              </a:rPr>
              <a:t>2025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WELCOME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revolution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here. Are you ready?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99339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2377440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4712" y="2103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reshaping every industry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24712" y="2468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healthcare to finance, retail to logistics — AI is not coming. It is already here, already deciding, already optimizing.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993392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2377440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13832" y="210312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without AI fall behind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513832" y="246888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using AI tools operate faster, smarter and cheaper. Those without them are already at a competitive disadvantage.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11480" y="34747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858768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24712" y="3584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is the right time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24712" y="39502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win. The window to build an AI-powered business at low cost is open right now — and it will not stay open forever.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3474720"/>
            <a:ext cx="4160520" cy="1325880"/>
          </a:xfrm>
          <a:prstGeom prst="roundRect">
            <a:avLst>
              <a:gd name="adj" fmla="val 6897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3858768"/>
            <a:ext cx="420624" cy="4206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13832" y="358444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makes AI accessible to all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5513832" y="395020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a technical background. AIG gives every member professional AI tools, training and a global network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WHAT IS AIG?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connected ecosystem.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is not an app. It is not a platform. It is a complete AI-powered business ecosystem — everything you need to build, grow and earn in one place.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664208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18288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38912" y="23591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38912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professional AI tools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87168" y="1664208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82880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78608" y="23591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Tools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2578608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services for operators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626864" y="1664208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82880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23591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Marketplace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718304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estate, cars, services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766560" y="1664208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828800"/>
            <a:ext cx="438912" cy="43891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235915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Community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858000" y="2688336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 &amp; events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47472" y="3236976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" y="3401568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38912" y="39319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</a:t>
            </a:r>
            <a:endParaRPr lang="en-US" sz="1150" dirty="0"/>
          </a:p>
        </p:txBody>
      </p:sp>
      <p:sp>
        <p:nvSpPr>
          <p:cNvPr id="24" name="Text 17"/>
          <p:cNvSpPr/>
          <p:nvPr/>
        </p:nvSpPr>
        <p:spPr>
          <a:xfrm>
            <a:off x="438912" y="4261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Cash, no internal fees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2487168" y="3236976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4408" y="3401568"/>
            <a:ext cx="438912" cy="43891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578608" y="39319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2578608" y="4261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Optional, where legally offered</a:t>
            </a:r>
            <a:endParaRPr lang="en-US" sz="950" dirty="0"/>
          </a:p>
        </p:txBody>
      </p:sp>
      <p:sp>
        <p:nvSpPr>
          <p:cNvPr id="29" name="Shape 21"/>
          <p:cNvSpPr/>
          <p:nvPr/>
        </p:nvSpPr>
        <p:spPr>
          <a:xfrm>
            <a:off x="4626864" y="3236976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104" y="3401568"/>
            <a:ext cx="438912" cy="43891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718304" y="39319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50" dirty="0"/>
          </a:p>
        </p:txBody>
      </p:sp>
      <p:sp>
        <p:nvSpPr>
          <p:cNvPr id="32" name="Text 23"/>
          <p:cNvSpPr/>
          <p:nvPr/>
        </p:nvSpPr>
        <p:spPr>
          <a:xfrm>
            <a:off x="4718304" y="4261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Academy, mentoring, training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766560" y="3236976"/>
            <a:ext cx="1993392" cy="1389888"/>
          </a:xfrm>
          <a:prstGeom prst="roundRect">
            <a:avLst>
              <a:gd name="adj" fmla="val 7895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401568"/>
            <a:ext cx="438912" cy="43891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858000" y="393192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Rewards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6858000" y="4261104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 eligible product sales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WHY JOIN AIG?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21208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your business.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without limits.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11480" y="1719072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05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755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business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15568" y="202996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professional AI tools, business services and a global network from day one — at a fraction of what they would cost separately.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11480" y="2377440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688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414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your knowledge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15568" y="268833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Academy, mentoring programs, leadership training and AI education keep you ahead of every industry shift.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11480" y="3035808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12724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0723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professional AI tools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15568" y="334670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Phone, AIG Ask, AIG Investor, AIG Translate and more — tools that used to cost thousands per month, included in your membership.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11480" y="3694176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8561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3730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globally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15568" y="40050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worldwide community of business owners, investors and professionals. Network, partner and grow across borders.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11480" y="4352544"/>
            <a:ext cx="8321040" cy="566928"/>
          </a:xfrm>
          <a:prstGeom prst="roundRect">
            <a:avLst>
              <a:gd name="adj" fmla="val 1451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443984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4389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 participation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15568" y="466344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eligible commissions from product and service sales within the ecosystem and from community referrals, in line with the compensation plan.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457200"/>
            <a:ext cx="3840480" cy="1783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2395728"/>
            <a:ext cx="3657600" cy="0"/>
          </a:xfrm>
          <a:prstGeom prst="line">
            <a:avLst/>
          </a:prstGeom>
          <a:noFill/>
          <a:ln w="25400">
            <a:solidFill>
              <a:srgbClr val="00C4D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25420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assistant. One login.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6576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AIG applications integrated into 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AI-managed device experience.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0" y="320040"/>
            <a:ext cx="4251960" cy="4526280"/>
          </a:xfrm>
          <a:prstGeom prst="roundRect">
            <a:avLst>
              <a:gd name="adj" fmla="val 3011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09160" y="4754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93268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91440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AI applications — one login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37160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0640" y="135331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AI-managed calls &amp; schedule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810512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0640" y="179222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Investor always on standby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224942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20640" y="22311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 via AIG Money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2688336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20640" y="26700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in real time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127248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20640" y="31089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signing on the go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3566160"/>
            <a:ext cx="256032" cy="25603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20640" y="354787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AI — AIG HELO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4005072"/>
            <a:ext cx="256032" cy="256032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20640" y="398678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News, weather, record — all built 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AIG ECOSYSTEM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part connected. Every part earning.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11880" y="1664208"/>
            <a:ext cx="1920240" cy="19202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11880" y="226771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26280" y="2578608"/>
            <a:ext cx="-594360" cy="-2331720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13632" y="228600"/>
            <a:ext cx="1316736" cy="950976"/>
          </a:xfrm>
          <a:prstGeom prst="ellipse">
            <a:avLst/>
          </a:prstGeom>
          <a:solidFill>
            <a:srgbClr val="2E4080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32004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986784" y="74066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26280" y="2578608"/>
            <a:ext cx="897947" cy="-1619926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05939" y="940394"/>
            <a:ext cx="1316736" cy="95097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51" y="103183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9091" y="1452458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26280" y="2578608"/>
            <a:ext cx="1276664" cy="20480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84656" y="2580800"/>
            <a:ext cx="1316736" cy="950976"/>
          </a:xfrm>
          <a:prstGeom prst="ellipse">
            <a:avLst/>
          </a:prstGeom>
          <a:solidFill>
            <a:srgbClr val="2E4080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568" y="267224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857808" y="309286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526280" y="2578608"/>
            <a:ext cx="247418" cy="1314420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755410" y="3874740"/>
            <a:ext cx="1316736" cy="95097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322" y="3966180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828562" y="438680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526280" y="2578608"/>
            <a:ext cx="-1436138" cy="1314420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3071854" y="3874740"/>
            <a:ext cx="1316736" cy="950976"/>
          </a:xfrm>
          <a:prstGeom prst="ellipse">
            <a:avLst/>
          </a:prstGeom>
          <a:solidFill>
            <a:srgbClr val="2E4080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766" y="396618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145006" y="438680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526280" y="2578608"/>
            <a:ext cx="-2465384" cy="20480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042608" y="2580800"/>
            <a:ext cx="1316736" cy="950976"/>
          </a:xfrm>
          <a:prstGeom prst="ellipse">
            <a:avLst/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1520" y="267224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115760" y="3092864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4526280" y="2578608"/>
            <a:ext cx="-2107530" cy="-1593698"/>
          </a:xfrm>
          <a:prstGeom prst="line">
            <a:avLst/>
          </a:prstGeom>
          <a:noFill/>
          <a:ln w="1016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2400462" y="966622"/>
            <a:ext cx="1316736" cy="950976"/>
          </a:xfrm>
          <a:prstGeom prst="ellipse">
            <a:avLst/>
          </a:prstGeom>
          <a:solidFill>
            <a:srgbClr val="2E4080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9374" y="1058062"/>
            <a:ext cx="347472" cy="34747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473614" y="1478686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One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AI command centre.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One is the unified dashboard for your entire AIG ecosystem. One login, every tool, everywhere.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7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login to all AIG applications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AI dashboard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 across all apps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intelligence and memory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Investor Alerts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money, smarter decisions.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AI-powered investment alerts, portfolio tracking and market intelligence — all curated to your profile.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8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deal flow and investment alerts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scenario modeling and risk analysis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performance tracking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 across market history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News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news that matters to you.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global news filtered by your interests, industry and location — no noise, only signal.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9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AI-filtered news by industry and interest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global coverage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and investment news prioritized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Summarized briefings in seconds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Ask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personal AI expert.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anything. Research any topic. Get expert-level answers instantly — without leaving your phone.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10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Expert-level AI answers on demand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research and analysis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24/7 — no waiting, no cost per query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Translate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every language barrier.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translation across 100+ languages — for calls, documents, messages and live conversations.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11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language real-time translation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 and meeting translation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message translation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global deals without language limits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Record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miss a word.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meeting and call recording with automatic transcription, summaries and action item extraction.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12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call and meeting recording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transcription and smart summaries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and decision extraction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archive of all recordings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Secure Sign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anything. Anywhere.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binding AI-assisted document signing — contracts, agreements and forms signed and stored securely.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13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binding digital signatures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review before signing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encrypted storage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paperwork and postal delays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Weather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AI-powered, hyper-local.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weather intelligence with business context — travel planning, event scheduling and location insights.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14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Hyper-local AI weather intelligence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travel and event planning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 recommendations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with AIG Calendar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HELO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intelligence, always 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assistance, safety alerts and personal security AI — always connected, always watching.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15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emergency AI assistance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safety and security alerts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sharing with trusted contacts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and legal emergency guidance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Me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digital professional identity.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AIG profile, network connections, business card, reputation score and community presence — all in one.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16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AI-enhanced professional profile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business card and portfolio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connections and introductions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reputation and trust score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4114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14447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MoneyGames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228600" y="20574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 real money. Risk nothing.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228600" y="2542032"/>
            <a:ext cx="27432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26517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investment simulation competition. Every player gets 10,000 coins. The best monthly performer wins €1,000 cash. Yearly jackpot for the annual champion.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28600" y="48280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</a:rPr>
              <a:t>17 / 30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749040" y="320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804672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107899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102412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enter — zero deposit required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792224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2066544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343400" y="2011680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virtual coins per player per month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749040" y="2779776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3054096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43400" y="2999232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winner earns €1,000 real cash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3749040" y="3767328"/>
            <a:ext cx="5074920" cy="868680"/>
          </a:xfrm>
          <a:prstGeom prst="roundRect">
            <a:avLst>
              <a:gd name="adj" fmla="val 1052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4041648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43400" y="398678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champion wins the annual jackpot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41148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3456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WDM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274320" y="391363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Marketplace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749040" y="20116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marketplace.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749040" y="11704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AIG tokens to access a curated global marketplace of premium assets and business services. 100% of service fees return to the network.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0" y="175564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77056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Real Estate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877056" y="21031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Condos, houses, commercial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82512" y="175564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0528" y="181051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Cars &amp; Vehicles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10528" y="21031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vehicles, turnkey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749040" y="253288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77056" y="25877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Boats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877056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Yachts &amp; leisure vessels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82512" y="253288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10528" y="258775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Software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510528" y="288036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AI tools &amp; platforms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749040" y="331012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77056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Consulting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877056" y="3657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advisory services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382512" y="331012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0528" y="336499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Retreats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510528" y="365760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nomad experiences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749040" y="408736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77056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Offshoring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877056" y="4434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setup &amp; relocation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382512" y="4087368"/>
            <a:ext cx="2487168" cy="658368"/>
          </a:xfrm>
          <a:prstGeom prst="roundRect">
            <a:avLst>
              <a:gd name="adj" fmla="val 9722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10528" y="41422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Nationalities &amp; Banking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510528" y="443484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 &amp; multi-jurisdiction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AIG GLOBAL TRANSFER NETWORK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money everywhere.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internal transfer fees.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6367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Account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" y="1856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AIG for free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2075688"/>
            <a:ext cx="274320" cy="2194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67128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22037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Cash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" y="24231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ecosystem wallet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2642616"/>
            <a:ext cx="274320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2734056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1792" y="27706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21792" y="299008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anywhere, instantly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3209544"/>
            <a:ext cx="274320" cy="21945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3300984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21792" y="3337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" y="355701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suppliers globally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776472"/>
            <a:ext cx="274320" cy="21945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3867912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21792" y="390448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21792" y="41239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loved ones worldwide</a:t>
            </a:r>
            <a:endParaRPr lang="en-US" sz="10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4343400"/>
            <a:ext cx="274320" cy="21945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457200" y="4434840"/>
            <a:ext cx="3840480" cy="475488"/>
          </a:xfrm>
          <a:prstGeom prst="roundRect">
            <a:avLst>
              <a:gd name="adj" fmla="val 15385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21792" y="447141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621792" y="469087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within the AIG network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754880" y="1572768"/>
            <a:ext cx="4069080" cy="3401568"/>
          </a:xfrm>
          <a:prstGeom prst="roundRect">
            <a:avLst>
              <a:gd name="adj" fmla="val 3763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892040" y="17190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217627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285232" y="215798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fees between AIG Cash accounts</a:t>
            </a:r>
            <a:endParaRPr lang="en-US" sz="12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265176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285232" y="263347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global transfers inside the network</a:t>
            </a:r>
            <a:endParaRPr lang="en-US" sz="12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9472" y="3127248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285232" y="310896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families across borders</a:t>
            </a:r>
            <a:endParaRPr lang="en-US" sz="120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9472" y="3602736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285232" y="358444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suppliers and partners worldwide</a:t>
            </a:r>
            <a:endParaRPr lang="en-US" sz="12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9472" y="4078224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5285232" y="4059936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 — every currency handled</a:t>
            </a:r>
            <a:endParaRPr lang="en-US" sz="12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9472" y="4553712"/>
            <a:ext cx="274320" cy="274320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285232" y="4535424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transfer history and AI receipts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YOUR ACCOUNTS EXPLAINED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Account vs AIG Cash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931920" cy="3749040"/>
          </a:xfrm>
          <a:prstGeom prst="roundRect">
            <a:avLst>
              <a:gd name="adj" fmla="val 3415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Cash Account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real money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848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2066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withdrawable at any time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5237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real currency value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96265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4128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to bank account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40156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24128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from eligible commissions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40480"/>
            <a:ext cx="274320" cy="27432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4128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incoming funds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4800600" y="1170432"/>
            <a:ext cx="3931920" cy="3749040"/>
          </a:xfrm>
          <a:prstGeom prst="roundRect">
            <a:avLst>
              <a:gd name="adj" fmla="val 3415"/>
            </a:avLst>
          </a:prstGeom>
          <a:solidFill>
            <a:srgbClr val="2E4080"/>
          </a:solidFill>
          <a:ln w="12700">
            <a:solidFill>
              <a:srgbClr val="00C4D4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937760" y="12984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AIG Cash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49377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ecosystem currency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084832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13248" y="2066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AIG Marketplace (WDM)</a:t>
            </a:r>
            <a:endParaRPr lang="en-US" sz="12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7488" y="2523744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413248" y="25054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membership packages</a:t>
            </a:r>
            <a:endParaRPr lang="en-US" sz="12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7488" y="2962656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413248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investment opportunities</a:t>
            </a:r>
            <a:endParaRPr lang="en-US" sz="12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7488" y="3401568"/>
            <a:ext cx="274320" cy="27432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413248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AI apps and features</a:t>
            </a:r>
            <a:endParaRPr lang="en-US" sz="12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7488" y="3840480"/>
            <a:ext cx="274320" cy="27432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413248" y="38221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exchange within network</a:t>
            </a:r>
            <a:endParaRPr lang="en-US" sz="12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47488" y="4279392"/>
            <a:ext cx="274320" cy="274320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413248" y="4261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incoming funds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THE 80 / 20 PRINCIPLE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deposit, automatically balanced.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money enters your AIG account, it is automatically split to keep you liquid and active in the ecosystem.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029200" cy="1691640"/>
          </a:xfrm>
          <a:prstGeom prst="roundRect">
            <a:avLst>
              <a:gd name="adj" fmla="val 6486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276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9436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Account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withdrawable · 1:1 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0" cy="1508760"/>
          </a:xfrm>
          <a:prstGeom prst="line">
            <a:avLst/>
          </a:prstGeom>
          <a:noFill/>
          <a:ln w="12700">
            <a:solidFill>
              <a:srgbClr val="C9A84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017520" y="1627632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00C4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6200" dirty="0"/>
          </a:p>
        </p:txBody>
      </p:sp>
      <p:sp>
        <p:nvSpPr>
          <p:cNvPr id="11" name="Text 9"/>
          <p:cNvSpPr/>
          <p:nvPr/>
        </p:nvSpPr>
        <p:spPr>
          <a:xfrm>
            <a:off x="301752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Cash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27249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· Upgrades · Apps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4930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 liquid: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349300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have 80% freely withdrawable. Your money is never locked up without your choice.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ecosystem activity: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404164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in AIG Cash keeps the marketplace active, rewards accessible and the community thriving.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98848"/>
            <a:ext cx="822960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45902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and effortless: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68880" y="45902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splitting required. Every deposit is handled by AIG automatically, instantly, transparently.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REFERRAL REWARDS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together. Earn together.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arise from eligible product and service sales in accordance with the AIG compensation plan.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50876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56362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61872" y="187452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AIG with your network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9232" y="2167128"/>
            <a:ext cx="274320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97280" y="237744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61872" y="243230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Friend Joins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61872" y="274320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sign up and explore AIG</a:t>
            </a:r>
            <a:endParaRPr lang="en-US" sz="10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3035808"/>
            <a:ext cx="274320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097280" y="32461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261872" y="330098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Grows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261872" y="36118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purchase products or services</a:t>
            </a:r>
            <a:endParaRPr lang="en-US" sz="10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9232" y="3904488"/>
            <a:ext cx="274320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97280" y="411480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261872" y="4169664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Commission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261872" y="448056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 from qualifying sales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623560" y="1481328"/>
            <a:ext cx="3200400" cy="3401568"/>
          </a:xfrm>
          <a:prstGeom prst="roundRect">
            <a:avLst>
              <a:gd name="adj" fmla="val 3429"/>
            </a:avLst>
          </a:prstGeom>
          <a:solidFill>
            <a:srgbClr val="1A2B5E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742432" y="16276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08483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2066544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unique AIG referral link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615184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26480" y="2596896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on eligible product purchases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3145536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126480" y="31272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on eligible service sales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675888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126480" y="365760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Commissions paid per the compensation plan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420624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6126480" y="418795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income guarantees — results vary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MEMBERSHIPS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your level.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10512" y="9601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10512" y="10149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810512" y="13624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1A3A7A"/>
          </a:solidFill>
          <a:ln w="12700">
            <a:solidFill>
              <a:srgbClr val="1A3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149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91840" y="13624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73168" y="9601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3A5090"/>
          </a:solidFill>
          <a:ln w="12700">
            <a:solidFill>
              <a:srgbClr val="3A5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149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73168" y="13624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up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54496" y="9601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0149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54496" y="13624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735824" y="960120"/>
            <a:ext cx="1426464" cy="658368"/>
          </a:xfrm>
          <a:prstGeom prst="roundRect">
            <a:avLst>
              <a:gd name="adj" fmla="val 11111"/>
            </a:avLst>
          </a:prstGeom>
          <a:solidFill>
            <a:srgbClr val="B8942A"/>
          </a:solidFill>
          <a:ln w="12700">
            <a:solidFill>
              <a:srgbClr val="B894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35824" y="1014984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35824" y="136245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1673352"/>
            <a:ext cx="84490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17647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Apps access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10512" y="17647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7647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73168" y="17647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54496" y="17647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35824" y="176479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Future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" y="2167128"/>
            <a:ext cx="8449056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25856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WDM Marketplace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10512" y="2258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only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2258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2258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54496" y="2258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35824" y="22585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Priority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2660904"/>
            <a:ext cx="84490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75234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Transfers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810512" y="27523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27523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7523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54496" y="27523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35824" y="275234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7472" y="3154680"/>
            <a:ext cx="8449056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32461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MoneyGames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810512" y="32461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291840" y="32461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2461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54496" y="32461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35824" y="3246120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47472" y="3648456"/>
            <a:ext cx="84490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73989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access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10512" y="37398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291840" y="37398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773168" y="37398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54496" y="37398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35824" y="3739896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+ Mentoring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7472" y="4142232"/>
            <a:ext cx="8449056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423367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commissions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810512" y="42336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291840" y="42336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773168" y="42336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254496" y="42336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7735824" y="4233672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47472" y="4636008"/>
            <a:ext cx="844905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38912" y="47274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810512" y="4727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3291840" y="4727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773168" y="4727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254496" y="4727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7735824" y="472744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7472" y="5129784"/>
            <a:ext cx="8449056" cy="475488"/>
          </a:xfrm>
          <a:prstGeom prst="rect">
            <a:avLst/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8912" y="522122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AI Apps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1810512" y="52212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291840" y="52212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4773168" y="52212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54496" y="52212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7735824" y="5221224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47472" y="5623560"/>
            <a:ext cx="8449056" cy="274320"/>
          </a:xfrm>
          <a:prstGeom prst="roundRect">
            <a:avLst>
              <a:gd name="adj" fmla="val 20000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38912" y="5623560"/>
            <a:ext cx="8266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is optional and not part of membership. Members decide individually whether to participate in available investment opportunities where legally offered.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MEMBERSHIP DETAILS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level. Full value.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1170432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92608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4048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your AI journey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2103120"/>
            <a:ext cx="1554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2240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25146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Apps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" y="304495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331927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384962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412394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MoneyGames + Referrals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59736" y="1170432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459736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51176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your business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88336" y="2103120"/>
            <a:ext cx="1554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2240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87752" y="25146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Apps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87752" y="304495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87752" y="331927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87752" y="384962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587752" y="412394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 + Priority WDM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26864" y="1170432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26864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18304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55464" y="2103120"/>
            <a:ext cx="1554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240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5146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Suite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04495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31927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suite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84962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412394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WDM + Mentoring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793992" y="1170432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793992" y="124358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85432" y="1682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Unlimited. Including the future.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22592" y="2103120"/>
            <a:ext cx="1554480" cy="0"/>
          </a:xfrm>
          <a:prstGeom prst="line">
            <a:avLst/>
          </a:prstGeom>
          <a:noFill/>
          <a:ln w="10160">
            <a:solidFill>
              <a:srgbClr val="0B14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2240280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922008" y="2514600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Apps + Future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22008" y="304495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922008" y="3319272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suite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22008" y="3849624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22008" y="4123944"/>
            <a:ext cx="1755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future AI Apps included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YOUR UPGRADE PATH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level at a time. No pressure.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free. Grow when you are ready. Every level unlocks more tools, more value, and more earning potential.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50592" y="1554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450592" y="18379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exploring. Earn from day one.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4840" y="2075688"/>
            <a:ext cx="274320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286000" y="21945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450592" y="2240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2450592" y="25237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AI tools. First community earnings.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761488"/>
            <a:ext cx="274320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0" y="28803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2450592" y="2926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450592" y="32095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suite. Academy access.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447288"/>
            <a:ext cx="274320" cy="23774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2286000" y="35661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2450592" y="3611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2450592" y="38953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ecosystem. Mentoring included.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133088"/>
            <a:ext cx="274320" cy="23774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2286000" y="4251960"/>
            <a:ext cx="4572000" cy="566928"/>
          </a:xfrm>
          <a:prstGeom prst="roundRect">
            <a:avLst>
              <a:gd name="adj" fmla="val 1612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2450592" y="4297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2450592" y="458114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Everything. Including all future AI Apps.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4846320"/>
            <a:ext cx="8229600" cy="201168"/>
          </a:xfrm>
          <a:prstGeom prst="roundRect">
            <a:avLst>
              <a:gd name="adj" fmla="val 2727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upgrade at any time. No obligation to invest. No lock-in.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37160"/>
            <a:ext cx="2286000" cy="384048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BUSINESS+ EXCLUSIVE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future AI Apps.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Included. Forever.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is constantly building new AI applications. Business+ members receive every new commercial AI 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no extra cost — automatically, the moment it launches.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81635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79806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AIG AI App — included automatically</a:t>
            </a:r>
            <a:endParaRPr lang="en-US" sz="13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25526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23697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upgrade costs for new applications</a:t>
            </a:r>
            <a:endParaRPr lang="en-US" sz="13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94176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6112" y="367588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access to beta features and previews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3308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4114800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built for future business needs</a:t>
            </a:r>
            <a:endParaRPr lang="en-US" sz="13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572000"/>
            <a:ext cx="292608" cy="29260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6112" y="455371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membership. Unlimited future value.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457200" y="4828032"/>
            <a:ext cx="5669280" cy="228600"/>
          </a:xfrm>
          <a:prstGeom prst="roundRect">
            <a:avLst>
              <a:gd name="adj" fmla="val 2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457200" y="482803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437"/>
                </a:solidFill>
              </a:rPr>
              <a:t>Business+ — the only membership that grows with the future.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INVESTMENT OPPORTUNITIES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Optional. Transparent. Your choice.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6152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is optional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12648" y="1920240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membership does not require investment. You can enjoy all tools, community and earning opportunities without investing a single euro.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117043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1768" y="13716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05272" y="13533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participation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001768" y="1920240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decide individually whether to participate in available investment opportunities. There is no pressure and no obligation.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1480" y="304495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246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6152" y="3227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Legally compliant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12648" y="3794760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opportunities are only offered where legally permitted. AIG follows all relevant regulations in each jurisdiction.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00600" y="3044952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8DF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1768" y="32461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605272" y="3227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≠ investment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001768" y="3794760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 a membership package does not constitute an investment. Membership provides access to tools, community and services.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411480" y="4846320"/>
            <a:ext cx="8321040" cy="219456"/>
          </a:xfrm>
          <a:prstGeom prst="roundRect">
            <a:avLst>
              <a:gd name="adj" fmla="val 29167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0292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investment opportunities are subject to applicable law. Past performance does not guarantee future results. Always review before participating.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EDUCATION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is the highest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returning asset.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66420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385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773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Business Academy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78992" y="21396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online courses covering business fundamentals, AI tools, digital marketing and entrepreneurship.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664208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93852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68112" y="1773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Mentoring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68112" y="21396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experienced mentors from the AIG network. Real guidance from people who have built real businesses.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283464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108960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Programs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78992" y="3310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mindset and skills to lead teams, scale organizations and thrive in an AI-powered world.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54880" y="2834640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10896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68112" y="29443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Training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68112" y="331012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modern AI-assisted sales techniques, prospecting, closing and building long-term client relationships.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65760" y="4005072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4279392"/>
            <a:ext cx="420624" cy="4206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78992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Education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078992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to use AI tools, prompt engineering, AI-powered workflows and the future of AI in business.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4754880" y="4005072"/>
            <a:ext cx="4160520" cy="1051560"/>
          </a:xfrm>
          <a:prstGeom prst="roundRect">
            <a:avLst>
              <a:gd name="adj" fmla="val 8696"/>
            </a:avLst>
          </a:prstGeom>
          <a:solidFill>
            <a:srgbClr val="1A2B5E"/>
          </a:solidFill>
          <a:ln w="12700">
            <a:solidFill>
              <a:srgbClr val="2E4080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4279392"/>
            <a:ext cx="420624" cy="42062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468112" y="4114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Business Nomad Retreats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5468112" y="4480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business events combining masterclasses, elite networking and deal-making in the world's best locations.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COMMUNITY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never building alone.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A5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is a global community of entrepreneurs, professionals and dreamers building a better future together.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47472" y="150876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673352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" y="2258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reach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25877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in dozens of countries. A network that spans borders, industries and backgrounds.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55264" y="150876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673352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258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meetups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383280" y="25877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in-person events, business retreats, networking dinners and community summits worldwide.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163056" y="1508760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8624" y="1673352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91072" y="225856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partners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291072" y="25877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co-founders, suppliers, clients and investors within the AIG network. Real deals happen here.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347472" y="3227832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3392424"/>
            <a:ext cx="475488" cy="4754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5488" y="3977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network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75488" y="43068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that answers questions, shares wins and supports each other. You grow when others grow.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3255264" y="3227832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3392424"/>
            <a:ext cx="475488" cy="4754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83280" y="3977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networking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3383280" y="43068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 community channels, introductions and collaboration spaces — active 24/7 across all time zones.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6163056" y="3227832"/>
            <a:ext cx="2743200" cy="1572768"/>
          </a:xfrm>
          <a:prstGeom prst="roundRect">
            <a:avLst>
              <a:gd name="adj" fmla="val 6977"/>
            </a:avLst>
          </a:prstGeom>
          <a:solidFill>
            <a:srgbClr val="0B1437"/>
          </a:solidFill>
          <a:ln w="12700">
            <a:solidFill>
              <a:srgbClr val="1A2B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8624" y="3392424"/>
            <a:ext cx="475488" cy="47548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91072" y="3977640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rewards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6291072" y="430682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leaders, top earners and active contributors are recognized and celebrated within the ecosystem.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437"/>
                </a:solidFill>
              </a:rPr>
              <a:t>OUR VISION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become the world's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largest AI business ecosystem.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8716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simply another AI software company.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ecosystem where businesses grow, people earn,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thrive and AI serves everyone.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34564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the AI-powered business world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7705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38587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to everyone — from students to CEOs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279392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426110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community, not just technology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681728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46634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with every member who joins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457200" y="4846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 Unlimited Possibilities.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560320"/>
            <a:ext cx="3657600" cy="3657600"/>
          </a:xfrm>
          <a:prstGeom prst="ellipse">
            <a:avLst/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</a:rPr>
              <a:t>JOIN TODAY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5943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Unlimited possibilities.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303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is right for you.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for free. Grow at your own pace.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4436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4436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499616" y="294436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2E4080"/>
          </a:solidFill>
          <a:ln w="12700">
            <a:solidFill>
              <a:srgbClr val="2E4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294436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294436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0592" y="294436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01568" y="294436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1A2B5E"/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01568" y="294436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352544" y="2944368"/>
            <a:ext cx="877824" cy="438912"/>
          </a:xfrm>
          <a:prstGeom prst="roundRect">
            <a:avLst>
              <a:gd name="adj" fmla="val 16667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52544" y="294436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Business+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547872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478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437"/>
                </a:solidFill>
              </a:rPr>
              <a:t>Join Free 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3547872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0B143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354787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</a:rPr>
              <a:t>See Plans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AC0"/>
                </a:solidFill>
              </a:rPr>
              <a:t>aigplatform.com  ·  info@aig.com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736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D0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Ecosystem. Unlimited Possibilities.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 – The AI Business Ecosystem</dc:title>
  <dc:subject>PptxGenJS Presentation</dc:subject>
  <dc:creator>PptxGenJS</dc:creator>
  <cp:lastModifiedBy>PptxGenJS</cp:lastModifiedBy>
  <cp:revision>1</cp:revision>
  <dcterms:created xsi:type="dcterms:W3CDTF">2026-07-02T22:23:49Z</dcterms:created>
  <dcterms:modified xsi:type="dcterms:W3CDTF">2026-07-02T22:23:49Z</dcterms:modified>
</cp:coreProperties>
</file>